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a-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1792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5960" y="658368"/>
            <a:ext cx="9491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ELECTRONICS &amp; COMMUNICATIONS</a:t>
            </a:r>
          </a:p>
          <a:p>
            <a:pPr>
              <a:spcBef>
                <a:spcPts val="200"/>
              </a:spcBef>
              <a:defRPr sz="1100">
                <a:solidFill>
                  <a:srgbClr val="6B7280"/>
                </a:solidFill>
                <a:latin typeface="Arial"/>
              </a:defRPr>
            </a:pPr>
            <a:r>
              <a:t>GOVERNMENT OF GOA  •  FINAL PROJECT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0728655" cy="219456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29968"/>
            <a:ext cx="1008857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11827"/>
                </a:solidFill>
                <a:latin typeface="Arial"/>
              </a:defRPr>
            </a:pPr>
            <a:r>
              <a:t>Mobile Tower Monitoring and Management System</a:t>
            </a:r>
          </a:p>
          <a:p>
            <a:pPr>
              <a:spcBef>
                <a:spcPts val="400"/>
              </a:spcBef>
              <a:defRPr sz="2500" b="1">
                <a:solidFill>
                  <a:srgbClr val="D84315"/>
                </a:solidFill>
                <a:latin typeface="Arial"/>
              </a:defRPr>
            </a:pPr>
            <a:r>
              <a:t>(MTMMS)</a:t>
            </a:r>
          </a:p>
          <a:p>
            <a:pPr>
              <a:spcBef>
                <a:spcPts val="600"/>
              </a:spcBef>
              <a:defRPr sz="1650">
                <a:solidFill>
                  <a:srgbClr val="374151"/>
                </a:solidFill>
                <a:latin typeface="Arial"/>
              </a:defRPr>
            </a:pPr>
            <a:r>
              <a:t>A Centralized Tri-Platform GIS Infrastructure &amp; Asset Governance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521208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CANDIDATE DETAILS (INDIVIDUAL PROJECT)</a:t>
            </a:r>
          </a:p>
          <a:p>
            <a:pPr>
              <a:spcBef>
                <a:spcPts val="300"/>
              </a:spcBef>
              <a:defRPr sz="2100" b="1">
                <a:solidFill>
                  <a:srgbClr val="111827"/>
                </a:solidFill>
                <a:latin typeface="Arial"/>
              </a:defRPr>
            </a:pPr>
            <a:r>
              <a:t>Esham Uday Chari</a:t>
            </a:r>
          </a:p>
          <a:p>
            <a:pPr>
              <a:spcBef>
                <a:spcPts val="300"/>
              </a:spcBef>
              <a:defRPr sz="1350">
                <a:solidFill>
                  <a:srgbClr val="374151"/>
                </a:solidFill>
                <a:latin typeface="Arial"/>
              </a:defRPr>
            </a:pPr>
            <a:r>
              <a:t>Roll Number: 23B-IT-503  |  Information Technology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  <a:latin typeface="Arial"/>
              </a:defRPr>
            </a:pPr>
            <a:r>
              <a:t>Goa College of Engineering (GEC), Farmagudi, Ponda, Goa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4297680"/>
            <a:ext cx="521208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44348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MENTOR &amp; INSTITUTION</a:t>
            </a:r>
          </a:p>
          <a:p>
            <a:pPr>
              <a:spcBef>
                <a:spcPts val="300"/>
              </a:spcBef>
              <a:defRPr sz="2100" b="1">
                <a:solidFill>
                  <a:srgbClr val="111827"/>
                </a:solidFill>
                <a:latin typeface="Arial"/>
              </a:defRPr>
            </a:pPr>
            <a:r>
              <a:t>Ms. Soniya Usgaonkar</a:t>
            </a:r>
          </a:p>
          <a:p>
            <a:pPr>
              <a:spcBef>
                <a:spcPts val="300"/>
              </a:spcBef>
              <a:defRPr sz="1350">
                <a:solidFill>
                  <a:srgbClr val="374151"/>
                </a:solidFill>
                <a:latin typeface="Arial"/>
              </a:defRPr>
            </a:pPr>
            <a:r>
              <a:t>Department Mentor  |  Academic Year: 2026–2027</a:t>
            </a:r>
          </a:p>
          <a:p>
            <a:pPr>
              <a:spcBef>
                <a:spcPts val="200"/>
              </a:spcBef>
              <a:defRPr sz="1200">
                <a:solidFill>
                  <a:srgbClr val="6B7280"/>
                </a:solidFill>
                <a:latin typeface="Arial"/>
              </a:defRPr>
            </a:pPr>
            <a:r>
              <a:t>Department of Information Technology, Government of Goa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INTRODUCTION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Project Overview, Purpose &amp; Target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088575" cy="42519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Project Overview: </a:t>
            </a:r>
            <a:r>
              <a:rPr sz="1450" b="0">
                <a:solidFill>
                  <a:srgbClr val="374151"/>
                </a:solidFill>
                <a:latin typeface="Arial"/>
              </a:rPr>
              <a:t>MTMMS is a centralized digital governance platform to monitor, track, and manage mobile towers across Goa.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Primary Purpose: </a:t>
            </a:r>
            <a:r>
              <a:rPr sz="1450" b="0">
                <a:solidFill>
                  <a:srgbClr val="374151"/>
                </a:solidFill>
                <a:latin typeface="Arial"/>
              </a:rPr>
              <a:t>Digitizes tower asset dossiers, geospatial coordinates, multi-tenant telecom leases, and statutory revenue compliance.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Application Domain: </a:t>
            </a:r>
            <a:r>
              <a:rPr sz="1450" b="0">
                <a:solidFill>
                  <a:srgbClr val="374151"/>
                </a:solidFill>
                <a:latin typeface="Arial"/>
              </a:rPr>
              <a:t>Public sector telecommunications infrastructure management and state Right-of-Way (RoW) administration.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Statutory Authority: </a:t>
            </a:r>
            <a:r>
              <a:rPr sz="1450" b="0">
                <a:solidFill>
                  <a:srgbClr val="374151"/>
                </a:solidFill>
                <a:latin typeface="Arial"/>
              </a:rPr>
              <a:t>Developed for the Department of Information Technology, Electronics &amp; Communications (DoIT), Government of Goa.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Intended Users: </a:t>
            </a:r>
            <a:r>
              <a:rPr sz="1450" b="0">
                <a:solidFill>
                  <a:srgbClr val="374151"/>
                </a:solidFill>
                <a:latin typeface="Arial"/>
              </a:rPr>
              <a:t>State IT directors, taluka administrative officers, municipal revenue inspectors, and on-site field survey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PROBLEM STATEMENT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Challenges in State Telecom Infrastructure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088575" cy="42519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Rapid Telecom Expansion: </a:t>
            </a:r>
            <a:r>
              <a:rPr sz="1450" b="0">
                <a:solidFill>
                  <a:srgbClr val="374151"/>
                </a:solidFill>
                <a:latin typeface="Arial"/>
              </a:rPr>
              <a:t>Surging 4G/5G mobile tower growth across diverse Goan topography requires systematic digital oversight.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Absence of Geospatial Visibility: </a:t>
            </a:r>
            <a:r>
              <a:rPr sz="1450" b="0">
                <a:solidFill>
                  <a:srgbClr val="374151"/>
                </a:solidFill>
                <a:latin typeface="Arial"/>
              </a:rPr>
              <a:t>Lack of verified GPS mapping to identify exact tower locations, physical heights, and regional tower density.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Complex Multi-Carrier Sharing: </a:t>
            </a:r>
            <a:r>
              <a:rPr sz="1450" b="0">
                <a:solidFill>
                  <a:srgbClr val="374151"/>
                </a:solidFill>
                <a:latin typeface="Arial"/>
              </a:rPr>
              <a:t>Multiple telecom operators share physical masts with unlinked tenancy agreements and varying contract periods.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Statutory Rent &amp; Revenue Tracking: </a:t>
            </a:r>
            <a:r>
              <a:rPr sz="1450" b="0">
                <a:solidFill>
                  <a:srgbClr val="374151"/>
                </a:solidFill>
                <a:latin typeface="Arial"/>
              </a:rPr>
              <a:t>Delayed tracking of land lease terms, municipal permissions, and computation of statutory late surcharges.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Need for Unified Governance: </a:t>
            </a:r>
            <a:r>
              <a:rPr sz="1450" b="0">
                <a:solidFill>
                  <a:srgbClr val="374151"/>
                </a:solidFill>
                <a:latin typeface="Arial"/>
              </a:rPr>
              <a:t>State authorities require a single verified source of truth connecting office administrators with field inspection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OBJECTIVES &amp; SCOPE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Core Goals and Project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21792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760720" cy="42976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CORE PROJECT OBJECTIVES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Main Objective: </a:t>
            </a:r>
            <a:r>
              <a:rPr sz="1350" b="0">
                <a:solidFill>
                  <a:srgbClr val="374151"/>
                </a:solidFill>
                <a:latin typeface="Arial"/>
              </a:rPr>
              <a:t>Build a centralized tri-platform GIS system to monitor, audit, and manage mobile towers across Goa.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Digital Registry: </a:t>
            </a:r>
            <a:r>
              <a:rPr sz="1350" b="0">
                <a:solidFill>
                  <a:srgbClr val="374151"/>
                </a:solidFill>
                <a:latin typeface="Arial"/>
              </a:rPr>
              <a:t>Maintain complete dossiers of towers, antenna mast specifications, power backup, and land classifications.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GIS Mapping: </a:t>
            </a:r>
            <a:r>
              <a:rPr sz="1350" b="0">
                <a:solidFill>
                  <a:srgbClr val="374151"/>
                </a:solidFill>
                <a:latin typeface="Arial"/>
              </a:rPr>
              <a:t>Provide interactive Leaflet map visualization with verified GPS coordinates and 4-tier filtering.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Multi-Tenant Auditing: </a:t>
            </a:r>
            <a:r>
              <a:rPr sz="1350" b="0">
                <a:solidFill>
                  <a:srgbClr val="374151"/>
                </a:solidFill>
                <a:latin typeface="Arial"/>
              </a:rPr>
              <a:t>Map telecom operators (Airtel, Jio, Vi, BSNL) sharing physical masts, spectrum, and lease dates.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Statutory Billing Engine: </a:t>
            </a:r>
            <a:r>
              <a:rPr sz="1350" b="0">
                <a:solidFill>
                  <a:srgbClr val="374151"/>
                </a:solidFill>
                <a:latin typeface="Arial"/>
              </a:rPr>
              <a:t>Automate annual rent calculation, detect overdue arrears, and generate official Form VII Notices.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508760"/>
            <a:ext cx="4282135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45920"/>
            <a:ext cx="3840480" cy="42976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PROJECT SCOPE &amp; BOUNDARIES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State-Wide Coverage: </a:t>
            </a:r>
            <a:r>
              <a:rPr sz="1350" b="0">
                <a:solidFill>
                  <a:srgbClr val="374151"/>
                </a:solidFill>
                <a:latin typeface="Arial"/>
              </a:rPr>
              <a:t>Encompasses all mobile towers across North Goa and South Goa districts.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12 Statutory Talukas: </a:t>
            </a:r>
            <a:r>
              <a:rPr sz="1350" b="0">
                <a:solidFill>
                  <a:srgbClr val="374151"/>
                </a:solidFill>
                <a:latin typeface="Arial"/>
              </a:rPr>
              <a:t>Covers all 12 talukas including Bardez, Tiswadi, Ponda, Salcete, and Mormugao.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Dual Land Categories: </a:t>
            </a:r>
            <a:r>
              <a:rPr sz="1350" b="0">
                <a:solidFill>
                  <a:srgbClr val="374151"/>
                </a:solidFill>
                <a:latin typeface="Arial"/>
              </a:rPr>
              <a:t>Governs infrastructure on both Government municipal land and private landholder plots.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Tri-Platform Access: </a:t>
            </a:r>
            <a:r>
              <a:rPr sz="1350" b="0">
                <a:solidFill>
                  <a:srgbClr val="374151"/>
                </a:solidFill>
                <a:latin typeface="Arial"/>
              </a:rPr>
              <a:t>Delivers synchronized access for web consoles, desktop workstations, and mobile devices.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PROPOSED SOLUTION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System Overview &amp; Key Functional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088575" cy="42519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Centralized Tri-Platform Solution: </a:t>
            </a:r>
            <a:r>
              <a:rPr sz="1450" b="0">
                <a:solidFill>
                  <a:srgbClr val="374151"/>
                </a:solidFill>
                <a:latin typeface="Arial"/>
              </a:rPr>
              <a:t>Seamlessly synchronizes React 19 Web, Electron 44 Desktop, and Flutter Native Android mobile applications.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Interactive GIS Spatial Map: </a:t>
            </a:r>
            <a:r>
              <a:rPr sz="1450" b="0">
                <a:solidFill>
                  <a:srgbClr val="374151"/>
                </a:solidFill>
                <a:latin typeface="Arial"/>
              </a:rPr>
              <a:t>Renders real-time tower pins, clustered density markers, and administrative boundaries using Leaflet engine.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4-Tier Location Hierarchy: </a:t>
            </a:r>
            <a:r>
              <a:rPr sz="1450" b="0">
                <a:solidFill>
                  <a:srgbClr val="374151"/>
                </a:solidFill>
                <a:latin typeface="Arial"/>
              </a:rPr>
              <a:t>Structured hierarchy organizing infrastructure by District → Constituency → Taluka → Area (101 locations).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Multi-Tenant Tenancy Tracking: </a:t>
            </a:r>
            <a:r>
              <a:rPr sz="1450" b="0">
                <a:solidFill>
                  <a:srgbClr val="374151"/>
                </a:solidFill>
                <a:latin typeface="Arial"/>
              </a:rPr>
              <a:t>Tracks co-located telecom carriers per mast, recording allocated antenna slots and active lease agreements.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Form VII Notice Generator: </a:t>
            </a:r>
            <a:r>
              <a:rPr sz="1450" b="0">
                <a:solidFill>
                  <a:srgbClr val="374151"/>
                </a:solidFill>
                <a:latin typeface="Arial"/>
              </a:rPr>
              <a:t>Auto-generates official Government of Goa rent demand notices with mandated 5% statutory late surcharges.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Multi-Network Connectivity: </a:t>
            </a:r>
            <a:r>
              <a:rPr sz="1450" b="0">
                <a:solidFill>
                  <a:srgbClr val="374151"/>
                </a:solidFill>
                <a:latin typeface="Arial"/>
              </a:rPr>
              <a:t>Supports UDP 41588 zero-config discovery on Wi-Fi and secure HTTPS cloud tunneling for remote 4G/5G mobile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ARCHITECTURE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Enterprise Multi-Tier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TIER 1 — TRI-PLATFORM PRESENTATION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65376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React 19 Web Portal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Administrative console, GIS mapping, and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82880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865376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Electron 44 Desktop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Standalone workstation client for office data entry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82880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1865376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Flutter Android App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On-site field surveys with hardware GPS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24912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TIER 2 — GATEWAY &amp; NETWORKING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99232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35808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UDP Port 41588 Beacon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Auto-discovery of server on local Wi-Fi subnets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999232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035808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HTTPS Cloud Tunnel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Secure Localtunnel gateway for remote 4G/5G mobile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36992" y="2999232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3035808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Stateless SimpleJWT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Cryptographic bearer tokens with role-based access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22192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95344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TIER 3 — BACKEND API &amp; BUSINESS LOGIC LAYER (DJANGO REST FRAMEWORK)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69664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Tower Asset Registry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Structural specifications, heights, and mast types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4169664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206240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4-Tier Location Resolver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Relational mapping across District, Taluka, and Area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36992" y="4169664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1" y="4206240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Statutory Rent Engine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Annual rent calculation, 5-yr review cycles, Form VII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92624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65776"/>
            <a:ext cx="10362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TIER 4 — RELATIONAL DATA PERSISTENCE LAYER (MYSQL 8.0)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340096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76672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3NF Normalized Schema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11 relational tables eliminating data redundancy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25696" y="5340096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5376672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Decimal(10, 7) Coordinates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Millimeter-level GPS accuracy preventing GIS drift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36992" y="5340096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1" y="5376672"/>
            <a:ext cx="31546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Arial"/>
              </a:defRPr>
            </a:pPr>
            <a:r>
              <a:t>Referential Cascades</a:t>
            </a:r>
          </a:p>
          <a:p>
            <a:pPr>
              <a:spcBef>
                <a:spcPts val="200"/>
              </a:spcBef>
              <a:defRPr sz="1000">
                <a:solidFill>
                  <a:srgbClr val="374151"/>
                </a:solidFill>
                <a:latin typeface="Arial"/>
              </a:defRPr>
            </a:pPr>
            <a:r>
              <a:t>Foreign key constraints protecting historical audit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METHODOLOGY &amp; WORKFLOW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End-to-End Processing Steps and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68880" cy="117043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224942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STEP 1: FIELD SURVEY</a:t>
            </a:r>
          </a:p>
          <a:p>
            <a:pPr>
              <a:spcBef>
                <a:spcPts val="3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Mobile data logging &amp;</a:t>
            </a:r>
            <a:br/>
            <a:r>
              <a:t>hardware GPS capture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508760"/>
            <a:ext cx="2468880" cy="117043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600200"/>
            <a:ext cx="224942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STEP 2: API GATEWAY</a:t>
            </a:r>
          </a:p>
          <a:p>
            <a:pPr>
              <a:spcBef>
                <a:spcPts val="3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SimpleJWT auth &amp;</a:t>
            </a:r>
            <a:br/>
            <a:r>
              <a:t>bounding box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508760"/>
            <a:ext cx="2468880" cy="117043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600200"/>
            <a:ext cx="224942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STEP 3: PERSISTENCE</a:t>
            </a:r>
          </a:p>
          <a:p>
            <a:pPr>
              <a:spcBef>
                <a:spcPts val="3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MySQL 3NF schema &amp;</a:t>
            </a:r>
            <a:br/>
            <a:r>
              <a:t>foreign key integrity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508760"/>
            <a:ext cx="2468880" cy="117043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843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24942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STEP 4: OUTPUT &amp; AUDIT</a:t>
            </a:r>
          </a:p>
          <a:p>
            <a:pPr>
              <a:spcBef>
                <a:spcPts val="300"/>
              </a:spcBef>
              <a:defRPr sz="1100">
                <a:solidFill>
                  <a:srgbClr val="374151"/>
                </a:solidFill>
                <a:latin typeface="Arial"/>
              </a:defRPr>
            </a:pPr>
            <a:r>
              <a:t>Leaflet GIS mapping &amp;</a:t>
            </a:r>
            <a:br/>
            <a:r>
              <a:t>Form VII notice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21208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4754880" cy="301752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INPUT CAPTURE &amp; VALIDATION PIPELINE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Physical Asset Attributes: </a:t>
            </a:r>
            <a:r>
              <a:rPr sz="1350" b="0">
                <a:solidFill>
                  <a:srgbClr val="374151"/>
                </a:solidFill>
                <a:latin typeface="Arial"/>
              </a:rPr>
              <a:t>Structural height, mast classification (ground/rooftop), and carrier spectrum.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Hardware GPS Logging: </a:t>
            </a:r>
            <a:r>
              <a:rPr sz="1350" b="0">
                <a:solidFill>
                  <a:srgbClr val="374151"/>
                </a:solidFill>
                <a:latin typeface="Arial"/>
              </a:rPr>
              <a:t>Direct sensor reading from field mobile phone during physical site audits.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Goa Bounding Box Checks: </a:t>
            </a:r>
            <a:r>
              <a:rPr sz="1350" b="0">
                <a:solidFill>
                  <a:srgbClr val="374151"/>
                </a:solidFill>
                <a:latin typeface="Arial"/>
              </a:rPr>
              <a:t>Strict validation enforcing coordinates within 14.8°N–15.8°N, 73.6°E–74.4°E.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Stateless Authentication: </a:t>
            </a:r>
            <a:r>
              <a:rPr sz="1350" b="0">
                <a:solidFill>
                  <a:srgbClr val="374151"/>
                </a:solidFill>
                <a:latin typeface="Arial"/>
              </a:rPr>
              <a:t>SimpleJWT header verification guarding all mutating API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2880360"/>
            <a:ext cx="521208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3017520"/>
            <a:ext cx="4754880" cy="301752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PERSISTENCE &amp; GOVERNANCE DELIVERABLES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Normalized 3NF Storage: </a:t>
            </a:r>
            <a:r>
              <a:rPr sz="1350" b="0">
                <a:solidFill>
                  <a:srgbClr val="374151"/>
                </a:solidFill>
                <a:latin typeface="Arial"/>
              </a:rPr>
              <a:t>Foreign key relational mapping linking towers, owners, areas, and operators.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Interactive GIS Map: </a:t>
            </a:r>
            <a:r>
              <a:rPr sz="1350" b="0">
                <a:solidFill>
                  <a:srgbClr val="374151"/>
                </a:solidFill>
                <a:latin typeface="Arial"/>
              </a:rPr>
              <a:t>Real-time Leaflet vector map plotting pins with dynamic marker clustering.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Automated Financial Accrual: </a:t>
            </a:r>
            <a:r>
              <a:rPr sz="1350" b="0">
                <a:solidFill>
                  <a:srgbClr val="374151"/>
                </a:solidFill>
                <a:latin typeface="Arial"/>
              </a:rPr>
              <a:t>Monthly lease calculation, 5-year review cycle tracking, and arrears detection.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Form VII Notice Export: </a:t>
            </a:r>
            <a:r>
              <a:rPr sz="1350" b="0">
                <a:solidFill>
                  <a:srgbClr val="374151"/>
                </a:solidFill>
                <a:latin typeface="Arial"/>
              </a:rPr>
              <a:t>Print-ready Government of Goa statutory demand notice with 5% late penalty.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TECHNOLOGIES USED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Full-Stack Software Ecosystem and Toolchain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BACKEND API ENGINE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Python 3.12 &amp; Django 5.1: Enterprise web framework and secure ORM engine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Django REST Framework: Modular ViewSets and ModelSerializers for REST endpoints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SimpleJWT 5.3: Stateless JSON Web Token authentication with auto-refresh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0876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18488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DATABASE PERSISTENCE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MySQL 8.0 Server: Enterprise ACID relational database engine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3NF Relational Schema: 11 normalized tables with zero data redundancy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Decimal(10, 7) Data Types: Millimeter-level GPS coordinate storage without GIS drift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CLIENT APPLICATIONS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React 19 &amp; TypeScript: Administrative web portal with component state management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Electron 44 Runtime: Standalone native Windows desktop workstation application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Flutter 3.x &amp; Dart: Cross-platform native Android mobile app for field audits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40480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3950208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GIS &amp; NETWORKING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Leaflet.js &amp; OpenStreetMap: Interactive geospatial mapping with marker clustering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UDP Port 41588 Sockets: Custom broadcast daemon for zero-config Wi-Fi pairing</a:t>
            </a:r>
          </a:p>
          <a:p>
            <a:pPr>
              <a:spcBef>
                <a:spcPts val="400"/>
              </a:spcBef>
              <a:defRPr sz="1200">
                <a:solidFill>
                  <a:srgbClr val="374151"/>
                </a:solidFill>
                <a:latin typeface="Arial"/>
              </a:defRPr>
            </a:pPr>
            <a:r>
              <a:t>•  Localtunnel Gateway: Automated HTTPS cloud tunnel for remote 4G/5G mobile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IMPLEMENTATION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Core Functional Modules and Application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gis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72768"/>
            <a:ext cx="5029200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47472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Interactive Leaflet GIS Map: Verified tower marker at Ponda Police Station (15.402° 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tower_regi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50208"/>
            <a:ext cx="5029200" cy="1874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8521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Tower Asset Registry: Live record GA/GBT/Govt/94320 (Height 25m, Airtel, Govt Land).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08760"/>
            <a:ext cx="521208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1645920"/>
            <a:ext cx="4754880" cy="43434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Tower Asset Module: </a:t>
            </a:r>
            <a:r>
              <a:rPr sz="1350" b="0">
                <a:solidFill>
                  <a:srgbClr val="374151"/>
                </a:solidFill>
                <a:latin typeface="Arial"/>
              </a:rPr>
              <a:t>Maintains structural heights, mast classifications (ground/rooftop), power sources, and live statuses.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4-Tier Geographic Hierarchy: </a:t>
            </a:r>
            <a:r>
              <a:rPr sz="1350" b="0">
                <a:solidFill>
                  <a:srgbClr val="374151"/>
                </a:solidFill>
                <a:latin typeface="Arial"/>
              </a:rPr>
              <a:t>Relational navigation: District → Constituency → Taluka → Area across 101 seeded Goa locations.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Tenancy Management Engine: </a:t>
            </a:r>
            <a:r>
              <a:rPr sz="1350" b="0">
                <a:solidFill>
                  <a:srgbClr val="374151"/>
                </a:solidFill>
                <a:latin typeface="Arial"/>
              </a:rPr>
              <a:t>Junction table mapping co-located carriers (Airtel, Jio, Vi, BSNL) and spectrum bands.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Interactive GIS Map View: </a:t>
            </a:r>
            <a:r>
              <a:rPr sz="1350" b="0">
                <a:solidFill>
                  <a:srgbClr val="374151"/>
                </a:solidFill>
                <a:latin typeface="Arial"/>
              </a:rPr>
              <a:t>Plots verified GPS coordinates with marker clustering and interactive tower popup tooltips.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Form VII Notice Generator: </a:t>
            </a:r>
            <a:r>
              <a:rPr sz="1350" b="0">
                <a:solidFill>
                  <a:srgbClr val="374151"/>
                </a:solidFill>
                <a:latin typeface="Arial"/>
              </a:rPr>
              <a:t>Produces official Government of Goa rent demand notices with 5% statutory late penalty.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INDIVIDUAL CONTRIBUTION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Work Completed &amp; Technical Challenges Resolved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3434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WORK PERSONALLY COMPLETED (ESHAM UDAY CHARI)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100% Individual Ownership: </a:t>
            </a:r>
            <a:r>
              <a:rPr sz="1350" b="0">
                <a:solidFill>
                  <a:srgbClr val="374151"/>
                </a:solidFill>
                <a:latin typeface="Arial"/>
              </a:rPr>
              <a:t>Engineered the full system end-to-end under the mentorship of Ms. Soniya Usgaonkar at DoIT Goa.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Backend REST API: </a:t>
            </a:r>
            <a:r>
              <a:rPr sz="1350" b="0">
                <a:solidFill>
                  <a:srgbClr val="374151"/>
                </a:solidFill>
                <a:latin typeface="Arial"/>
              </a:rPr>
              <a:t>Architected all 9 Django REST applications, ViewSets, serializers, and SimpleJWT authentication.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Database Schema Design: </a:t>
            </a:r>
            <a:r>
              <a:rPr sz="1350" b="0">
                <a:solidFill>
                  <a:srgbClr val="374151"/>
                </a:solidFill>
                <a:latin typeface="Arial"/>
              </a:rPr>
              <a:t>Normalized legacy records into a 3NF MySQL schema covering 11 tables and 101 Goa locations.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Tri-Platform Clients: </a:t>
            </a:r>
            <a:r>
              <a:rPr sz="1350" b="0">
                <a:solidFill>
                  <a:srgbClr val="374151"/>
                </a:solidFill>
                <a:latin typeface="Arial"/>
              </a:rPr>
              <a:t>Built React 19 web portal, packaged Electron 44 desktop client, and developed Flutter mobile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08760"/>
            <a:ext cx="521208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645920"/>
            <a:ext cx="4754880" cy="43434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KEY CHALLENGES FACED &amp; RESOLUTIONS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Challenge 1 — Mobile Wi-Fi Discovery: </a:t>
            </a:r>
            <a:r>
              <a:rPr sz="1350" b="0">
                <a:solidFill>
                  <a:srgbClr val="374151"/>
                </a:solidFill>
                <a:latin typeface="Arial"/>
              </a:rPr>
              <a:t>Phones could not detect backend IP on local Wi-Fi due to changing DHCP subnets.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Resolution 1: </a:t>
            </a:r>
            <a:r>
              <a:rPr sz="1350" b="0">
                <a:solidFill>
                  <a:srgbClr val="374151"/>
                </a:solidFill>
                <a:latin typeface="Arial"/>
              </a:rPr>
              <a:t>Built a custom UDP broadcast beacon daemon in Python (discovery_service.py) on port 41588.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Challenge 2 — Inaccurate GPS Data: </a:t>
            </a:r>
            <a:r>
              <a:rPr sz="1350" b="0">
                <a:solidFill>
                  <a:srgbClr val="374151"/>
                </a:solidFill>
                <a:latin typeface="Arial"/>
              </a:rPr>
              <a:t>Transposed coordinate records placed towers incorrectly in the Arabian Sea.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Resolution 2: </a:t>
            </a:r>
            <a:r>
              <a:rPr sz="1350" b="0">
                <a:solidFill>
                  <a:srgbClr val="374151"/>
                </a:solidFill>
                <a:latin typeface="Arial"/>
              </a:rPr>
              <a:t>Enforced strict Goa state bounding-box coordinate validation and interactive map pickers.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Challenge 3 — Remote Field Access: </a:t>
            </a:r>
            <a:r>
              <a:rPr sz="1350" b="0">
                <a:solidFill>
                  <a:srgbClr val="374151"/>
                </a:solidFill>
                <a:latin typeface="Arial"/>
              </a:rPr>
              <a:t>Integrated Localtunnel HTTPS cloud gateway for field audits over cellular 4G/5G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RESULTS &amp; TESTING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Verification Outcomes, System Performance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088575" cy="42519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Production-Ready System Delivery: </a:t>
            </a:r>
            <a:r>
              <a:rPr sz="1450" b="0">
                <a:solidFill>
                  <a:srgbClr val="374151"/>
                </a:solidFill>
                <a:latin typeface="Arial"/>
              </a:rPr>
              <a:t>Successfully deployed unified tri-platform system operating across local LAN and 4G/5G networks.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Verified Core Features: </a:t>
            </a:r>
            <a:r>
              <a:rPr sz="1450" b="0">
                <a:solidFill>
                  <a:srgbClr val="374151"/>
                </a:solidFill>
                <a:latin typeface="Arial"/>
              </a:rPr>
              <a:t>Real-time tower registration, sub-50ms API response latency, and instant cross-platform data synchronization.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Automated Unit &amp; API Testing: </a:t>
            </a:r>
            <a:r>
              <a:rPr sz="1450" b="0">
                <a:solidFill>
                  <a:srgbClr val="374151"/>
                </a:solidFill>
                <a:latin typeface="Arial"/>
              </a:rPr>
              <a:t>Validated Django model constraints, cascade delete rules, and 200/201/400/401 HTTP codes via Postman.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Field GPS Calibration: </a:t>
            </a:r>
            <a:r>
              <a:rPr sz="1450" b="0">
                <a:solidFill>
                  <a:srgbClr val="374151"/>
                </a:solidFill>
                <a:latin typeface="Arial"/>
              </a:rPr>
              <a:t>Calibrated phone hardware GPS readings against known Google Maps coordinates in Goa, confirming sub-meter accuracy.</a:t>
            </a:r>
          </a:p>
          <a:p>
            <a:pPr>
              <a:spcBef>
                <a:spcPts val="1600"/>
              </a:spcBef>
              <a:spcAft>
                <a:spcPts val="400"/>
              </a:spcAft>
            </a:pPr>
            <a:r>
              <a:rPr sz="1600" b="1">
                <a:solidFill>
                  <a:srgbClr val="D84315"/>
                </a:solidFill>
                <a:latin typeface="Arial"/>
              </a:rPr>
              <a:t>•  </a:t>
            </a:r>
            <a:r>
              <a:rPr sz="1600" b="1">
                <a:solidFill>
                  <a:srgbClr val="111827"/>
                </a:solidFill>
                <a:latin typeface="Arial"/>
              </a:rPr>
              <a:t>Current System Limitations: </a:t>
            </a:r>
            <a:r>
              <a:rPr sz="1450" b="0">
                <a:solidFill>
                  <a:srgbClr val="374151"/>
                </a:solidFill>
                <a:latin typeface="Arial"/>
              </a:rPr>
              <a:t>System manages administrative and financial data, but currently lacks live IoT power sensor telemetry.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84315"/>
                </a:solidFill>
                <a:latin typeface="Arial"/>
              </a:defRPr>
            </a:pPr>
            <a:r>
              <a:t>DEPARTMENT OF INFORMATION TECHNOLOGY, GOVT. OF GOA   •   [ CONCLUSION &amp; FUTURE SCOPE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Project Summary, Learnings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8655" cy="15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3434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PROJECT OUTCOMES &amp; LEARNINGS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Successful Project Delivery: </a:t>
            </a:r>
            <a:r>
              <a:rPr sz="1350" b="0">
                <a:solidFill>
                  <a:srgbClr val="374151"/>
                </a:solidFill>
                <a:latin typeface="Arial"/>
              </a:rPr>
              <a:t>Engineered an enterprise telecommunications infrastructure governance system for DoIT Goa.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100% Digital Governance: </a:t>
            </a:r>
            <a:r>
              <a:rPr sz="1350" b="0">
                <a:solidFill>
                  <a:srgbClr val="374151"/>
                </a:solidFill>
                <a:latin typeface="Arial"/>
              </a:rPr>
              <a:t>Replaced manual records with centralized relational database, GIS mapping, and automated ledgers.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Tri-Platform Operational Access: </a:t>
            </a:r>
            <a:r>
              <a:rPr sz="1350" b="0">
                <a:solidFill>
                  <a:srgbClr val="374151"/>
                </a:solidFill>
                <a:latin typeface="Arial"/>
              </a:rPr>
              <a:t>Connected administrative web consoles, office desktop workstations, and mobile field audit tools.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Zero Revenue Leakage: </a:t>
            </a:r>
            <a:r>
              <a:rPr sz="1350" b="0">
                <a:solidFill>
                  <a:srgbClr val="374151"/>
                </a:solidFill>
                <a:latin typeface="Arial"/>
              </a:rPr>
              <a:t>Automated annual rent computation, lease renewal tracking, and Form VII statutory notices.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Engineering Learnings: </a:t>
            </a:r>
            <a:r>
              <a:rPr sz="1350" b="0">
                <a:solidFill>
                  <a:srgbClr val="374151"/>
                </a:solidFill>
                <a:latin typeface="Arial"/>
              </a:rPr>
              <a:t>Mastered full-stack architecture, cross-platform tooling, raw UDP networking, and public sector IT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08760"/>
            <a:ext cx="521208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645920"/>
            <a:ext cx="4754880" cy="43434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200" b="1">
                <a:solidFill>
                  <a:srgbClr val="D84315"/>
                </a:solidFill>
                <a:latin typeface="Arial"/>
              </a:defRPr>
            </a:pPr>
            <a:r>
              <a:t>POSSIBLE FUTURE ENHANCEMENTS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Future Scope 1 — IoT Edge Telemetry: </a:t>
            </a:r>
            <a:r>
              <a:rPr sz="1350" b="0">
                <a:solidFill>
                  <a:srgbClr val="374151"/>
                </a:solidFill>
                <a:latin typeface="Arial"/>
              </a:rPr>
              <a:t>Connect IoT sensors to monitor battery bank voltages, generator fuel, and power outages in real time.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Future Scope 2 — AI Coverage Heatmaps: </a:t>
            </a:r>
            <a:r>
              <a:rPr sz="1350" b="0">
                <a:solidFill>
                  <a:srgbClr val="374151"/>
                </a:solidFill>
                <a:latin typeface="Arial"/>
              </a:rPr>
              <a:t>Integrate RF propagation algorithms to model 4G/5G coverage shadows across Goa's hilly terrain.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Future Scope 3 — Drone Survey AI: </a:t>
            </a:r>
            <a:r>
              <a:rPr sz="1350" b="0">
                <a:solidFill>
                  <a:srgbClr val="374151"/>
                </a:solidFill>
                <a:latin typeface="Arial"/>
              </a:rPr>
              <a:t>Use drone cameras and computer vision to inspect physical masts for antenna tilt and structural rust.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500" b="1">
                <a:solidFill>
                  <a:srgbClr val="D84315"/>
                </a:solidFill>
                <a:latin typeface="Arial"/>
              </a:rPr>
              <a:t>•  </a:t>
            </a:r>
            <a:r>
              <a:rPr sz="1500" b="1">
                <a:solidFill>
                  <a:srgbClr val="111827"/>
                </a:solidFill>
                <a:latin typeface="Arial"/>
              </a:rPr>
              <a:t>Future Scope 4 — Public Citizen Portal: </a:t>
            </a:r>
            <a:r>
              <a:rPr sz="1350" b="0">
                <a:solidFill>
                  <a:srgbClr val="374151"/>
                </a:solidFill>
                <a:latin typeface="Arial"/>
              </a:rPr>
              <a:t>Launch a portal for citizens to view EMF safety certificates and lodge network coverage grievances.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Mobile Tower Monitoring and Management System (MTMMS)  |  DoIT, Government of Goa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D84315"/>
                </a:solidFill>
                <a:latin typeface="Arial"/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